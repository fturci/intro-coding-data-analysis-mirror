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7530"/>
    <p:restoredTop sz="94658"/>
  </p:normalViewPr>
  <p:slideViewPr>
    <p:cSldViewPr snapToGrid="0">
      <p:cViewPr varScale="1">
        <p:scale>
          <a:sx d="100" n="93"/>
          <a:sy d="100" n="93"/>
        </p:scale>
        <p:origin x="248" y="960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6" Type="http://schemas.openxmlformats.org/officeDocument/2006/relationships/tableStyles" Target="tableStyles.xml" /><Relationship Id="rId25" Type="http://schemas.openxmlformats.org/officeDocument/2006/relationships/theme" Target="theme/theme1.xml" /><Relationship Id="rId24" Type="http://schemas.openxmlformats.org/officeDocument/2006/relationships/viewProps" Target="view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6C32E8-2C8B-54FC-97B2-36CDFADB0B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FB1093B-6DA4-8A3A-A6AF-001AE70F754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504C9E-4C8F-2003-8F21-0F7AB5D1EB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F770A7-1BC1-C2F9-64A4-BB843A2771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D050D9-0F94-2E4F-464C-8EBCCD544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47778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63B589-2AE5-12F1-17E6-67B2154872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15D898-3F38-4F9B-0D0F-A12D8A7AD0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382D0A-CC0F-9475-05E6-63FA7623D7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06867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083AF5-17E5-B69F-E996-E68D68BE8C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A990B9-A323-F063-6ABB-DB99BCEF71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7EBEF1-6623-DECB-A2F9-3C10AE2119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89AAB7-70A9-7178-9084-A2F167FC6C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226EA5-3C9E-8862-7560-722FDF58E0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69462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DE8320-90B0-A8E3-9D7C-A2C51EF2E3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D4EBB7-7476-2DE8-611A-CD8CF25AE91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5688C6A-8B12-D226-5E5D-7657E81DD9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D5B1EF3-C366-8AB3-D55F-BD6891C1DB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AB2F40D-525B-64EA-F250-7E99EB745C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A76E26D-DF3E-36D1-25F7-2588814B88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38864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386D6-929C-BE2D-2E6F-93F76E6C7C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4C03A2-7EF3-E8F8-9146-077B2F204E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1AF88F-49E5-FD56-FDB3-4A4F0228FA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6DFCACB-DDCB-2218-0D87-FE5CB1B691E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751CEE0-BE4E-F142-5C5C-066F0F9DA6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06E8580-5C74-4131-34B7-24F5887A20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BEFEE87-EBA9-A647-B125-A8414D3DC1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D8C74B6-FE67-4E50-F3DF-BB10499654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05623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AC1B93-255C-C801-210B-62D8530E06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A6B289C-CC9F-C1B6-F8E1-9DE45C18C9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F1ED4DE-4918-AC75-957D-771E401AC2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976F2A4-2941-EBE1-C344-AE4EBF4203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29823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FDD0B9A-0946-0722-4C69-FD455B971D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74B0BD2-449B-2F9F-8E91-8E50AD1124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7D65A4-C6C6-29C4-A341-8E2080FE2A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47874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A89D70-A607-A425-4168-37C5E7F0A2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04ACFB-CFC5-1D84-41CE-8DD0F87EB3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5652673-8051-9133-B858-DF233A24617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F084811-219D-E19A-6E6E-96EF3E0C37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6427EA4-5CAE-CF23-DFED-B82AFD7095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4B26FF0-4198-4556-3B5F-00C8CCE952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28368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340C80-7139-C514-B0EF-6AF404CB64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10512424" cy="845127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B518FBC-82F7-E92C-1FE5-F8249EA7DA3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8153400" y="1503218"/>
            <a:ext cx="3505200" cy="1648692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B6F1999-FBE9-4404-0434-3FA4C404B4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47161" y="1503218"/>
            <a:ext cx="10205748" cy="409401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C8FC9B7-CAA2-1A15-1CCE-02CC1FE5A4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075F1BA-4A07-E7F8-E698-F36F06DAFF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792CF1-E74F-616E-675A-A81CCADAD9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26471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238B5F-CC94-735A-F9F3-1A2FA709E5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44B8932-B4E7-4281-5F1F-DD8AD0C1A0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8B4AD8-850D-011D-76CF-4CCF8C0039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221759-EC8D-8D84-74AB-99476A906C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9FC8F3-0628-51EE-CCCB-003C83E7BE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66751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274DD1A-886A-8B20-C3C9-BB8E4DB93CD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E5C0889-9301-257D-0595-26A369113B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E27814-722A-50B2-8E84-ABAACF9CBF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A2D049-343C-4365-6A1D-71EE6A7387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756DDD-1C58-C5C0-8864-F2DCEEC507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6074058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5C6E130-3555-2769-5500-6B3A22B9C5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30555"/>
          </a:xfrm>
          <a:prstGeom prst="rect">
            <a:avLst/>
          </a:prstGeom>
          <a:solidFill>
            <a:schemeClr val="accent1"/>
          </a:solidFill>
          <a:effectLst>
            <a:glow rad="63500">
              <a:schemeClr val="bg2">
                <a:alpha val="40000"/>
              </a:schemeClr>
            </a:glow>
          </a:effectLst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GB"/>
              <a:t>Click to edit Master title style</a:t>
            </a:r>
            <a:endParaRPr dirty="0"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A2F860-4177-F3D9-485A-938DA58785D3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107440"/>
            <a:ext cx="10515600" cy="5161280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GB"/>
              <a:t>Click to edit Master text styles</a:t>
            </a:r>
          </a:p>
          <a:p>
            <a:pPr lvl="1"/>
            <a:r>
              <a:rPr dirty="0" lang="en-GB"/>
              <a:t>Second level</a:t>
            </a:r>
          </a:p>
          <a:p>
            <a:pPr lvl="2"/>
            <a:r>
              <a:rPr dirty="0" lang="en-GB"/>
              <a:t>Third level</a:t>
            </a:r>
          </a:p>
          <a:p>
            <a:pPr lvl="3"/>
            <a:r>
              <a:rPr dirty="0" lang="en-GB"/>
              <a:t>Fourth level</a:t>
            </a:r>
          </a:p>
          <a:p>
            <a:pPr lvl="4"/>
            <a:r>
              <a:rPr dirty="0" lang="en-GB"/>
              <a:t>Fifth level</a:t>
            </a:r>
            <a:endParaRPr dirty="0"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E5E15D-8480-10F8-AD02-54AF1921A83F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035CCE-B73C-FACD-5FF3-800C4C9F279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95AB7E-1977-E935-7A53-C80D6972448A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0211491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3000">
          <a:solidFill>
            <a:schemeClr val="bg1"/>
          </a:solidFill>
          <a:latin charset="0" panose="020B0604020202020204" pitchFamily="34" typeface="Arial"/>
          <a:ea typeface="+mj-ea"/>
          <a:cs charset="0" panose="020B0604020202020204" pitchFamily="34" typeface="Arial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charset="0" panose="020B0604020202020204" pitchFamily="34" typeface="Arial"/>
          <a:ea typeface="+mn-ea"/>
          <a:cs charset="0" panose="020B0604020202020204" pitchFamily="34" typeface="Arial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4020202020204" pitchFamily="34" typeface="Arial"/>
          <a:ea typeface="+mn-ea"/>
          <a:cs charset="0" panose="020B0604020202020204" pitchFamily="34" typeface="Arial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600">
          <a:solidFill>
            <a:schemeClr val="tx1"/>
          </a:solidFill>
          <a:latin charset="0" panose="020B0604020202020204" pitchFamily="34" typeface="Arial"/>
          <a:ea typeface="+mn-ea"/>
          <a:cs charset="0" panose="020B0604020202020204" pitchFamily="34" typeface="Arial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400">
          <a:solidFill>
            <a:schemeClr val="tx1"/>
          </a:solidFill>
          <a:latin charset="0" panose="020B0604020202020204" pitchFamily="34" typeface="Arial"/>
          <a:ea typeface="+mn-ea"/>
          <a:cs charset="0" panose="020B0604020202020204" pitchFamily="34" typeface="Arial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400">
          <a:solidFill>
            <a:schemeClr val="tx1"/>
          </a:solidFill>
          <a:latin charset="0" panose="020B0604020202020204" pitchFamily="34" typeface="Arial"/>
          <a:ea typeface="+mn-ea"/>
          <a:cs charset="0" panose="020B0604020202020204" pitchFamily="34" typeface="Arial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hyperlink" Target="https://numpy.org" TargetMode="External" /><Relationship Id="rId2" Type="http://schemas.openxmlformats.org/officeDocument/2006/relationships/image" Target="../media/image1.sv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21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numpy.org/doc/stable/" TargetMode="Externa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6C32E8-2C8B-54FC-97B2-36CDFADB0B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numpy</a:t>
            </a:r>
            <a:r>
              <a:rPr/>
              <a:t> module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FB1093B-6DA4-8A3A-A6AF-001AE70F7546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the end of this lecture, you will be able to:</a:t>
            </a:r>
          </a:p>
          <a:p>
            <a:pPr lvl="0"/>
            <a:r>
              <a:rPr/>
              <a:t>Explain what the NumPy module is and why it is used</a:t>
            </a:r>
          </a:p>
          <a:p>
            <a:pPr lvl="0"/>
            <a:r>
              <a:rPr/>
              <a:t>Create and manipulate NumPy arrays</a:t>
            </a:r>
          </a:p>
          <a:p>
            <a:pPr lvl="0"/>
            <a:r>
              <a:rPr/>
              <a:t>Perform element-wise operations and mathematical functions on arrays</a:t>
            </a:r>
          </a:p>
          <a:p>
            <a:pPr lvl="0"/>
            <a:r>
              <a:rPr/>
              <a:t>Compare NumPy arrays with Python lists in terms of performance and functionality</a:t>
            </a:r>
          </a:p>
          <a:p>
            <a:pPr lvl="0"/>
            <a:r>
              <a:rPr/>
              <a:t>Use basic aggregation and array manipulation functions in NumPy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A89D70-A607-A425-4168-37C5E7F0A2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</a:t>
            </a:r>
            <a:r>
              <a:rPr>
                <a:latin typeface="Courier"/>
              </a:rPr>
              <a:t>numpy</a:t>
            </a:r>
            <a:r>
              <a:rPr/>
              <a:t>?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5652673-8051-9133-B858-DF233A24617A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NumPy</a:t>
            </a:r>
            <a:r>
              <a:rPr/>
              <a:t> is a Python library that makes working with numbers and large collections of data fast and easy.</a:t>
            </a:r>
          </a:p>
        </p:txBody>
      </p:sp>
      <p:pic>
        <p:nvPicPr>
          <p:cNvPr descr="https://numpy.org/doc/stable/_static/numpy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81600" y="1676400"/>
            <a:ext cx="6172200" cy="297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5181600" y="5334000"/>
            <a:ext cx="61722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Complete description at </a:t>
            </a:r>
            <a:r>
              <a:rPr>
                <a:hlinkClick r:id="rId3"/>
              </a:rPr>
              <a:t>https://numpy.org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04ACFB-CFC5-1D84-41CE-8DD0F87EB3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provides special </a:t>
            </a:r>
            <a:r>
              <a:rPr b="1"/>
              <a:t>array</a:t>
            </a:r>
            <a:r>
              <a:rPr/>
              <a:t> objects and tools for doing math efficiently, which is useful for data analysis and scientific computing.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It is imported in your session using the following command</a:t>
            </a:r>
          </a:p>
          <a:p>
            <a:pPr lvl="0" indent="0">
              <a:buNone/>
            </a:pPr>
            <a:r>
              <a:rPr>
                <a:solidFill>
                  <a:srgbClr val="00769E"/>
                </a:solidFill>
                <a:latin typeface="Courier"/>
              </a:rPr>
              <a:t>import</a:t>
            </a:r>
            <a:r>
              <a:rPr>
                <a:solidFill>
                  <a:srgbClr val="003B4F"/>
                </a:solidFill>
                <a:latin typeface="Courier"/>
              </a:rPr>
              <a:t> numpy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We will follow a common practice and use a shorthand with the </a:t>
            </a:r>
            <a:r>
              <a:rPr>
                <a:latin typeface="Courier"/>
              </a:rPr>
              <a:t>as</a:t>
            </a:r>
            <a:r>
              <a:rPr/>
              <a:t> syntax</a:t>
            </a:r>
          </a:p>
          <a:p>
            <a:pPr lvl="0" indent="0">
              <a:buNone/>
            </a:pPr>
            <a:r>
              <a:rPr>
                <a:solidFill>
                  <a:srgbClr val="00769E"/>
                </a:solidFill>
                <a:latin typeface="Courier"/>
              </a:rPr>
              <a:t>import</a:t>
            </a:r>
            <a:r>
              <a:rPr>
                <a:solidFill>
                  <a:srgbClr val="003B4F"/>
                </a:solidFill>
                <a:latin typeface="Courier"/>
              </a:rPr>
              <a:t> numpy </a:t>
            </a:r>
            <a:r>
              <a:rPr>
                <a:solidFill>
                  <a:srgbClr val="00769E"/>
                </a:solidFill>
                <a:latin typeface="Courier"/>
              </a:rPr>
              <a:t>as</a:t>
            </a:r>
            <a:r>
              <a:rPr>
                <a:solidFill>
                  <a:srgbClr val="003B4F"/>
                </a:solidFill>
                <a:latin typeface="Courier"/>
              </a:rPr>
              <a:t> np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So </a:t>
            </a:r>
            <a:r>
              <a:rPr>
                <a:latin typeface="Courier"/>
              </a:rPr>
              <a:t>np</a:t>
            </a:r>
            <a:r>
              <a:rPr/>
              <a:t> will always mean </a:t>
            </a:r>
            <a:r>
              <a:rPr>
                <a:latin typeface="Courier"/>
              </a:rPr>
              <a:t>numpy</a:t>
            </a:r>
            <a:r>
              <a:rPr/>
              <a:t> for us.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DE8320-90B0-A8E3-9D7C-A2C51EF2E3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vs lists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D4EBB7-7476-2DE8-611A-CD8CF25AE913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Python Lists</a:t>
            </a:r>
          </a:p>
          <a:p>
            <a:pPr lvl="0"/>
            <a:r>
              <a:rPr/>
              <a:t>Ordered, Mutable</a:t>
            </a:r>
            <a:br/>
          </a:p>
          <a:p>
            <a:pPr lvl="0"/>
            <a:r>
              <a:rPr/>
              <a:t>Mixed data types</a:t>
            </a:r>
          </a:p>
          <a:p>
            <a:pPr lvl="0"/>
            <a:r>
              <a:rPr/>
              <a:t>Explicit operations needed</a:t>
            </a:r>
          </a:p>
          <a:p>
            <a:pPr lvl="0"/>
            <a:r>
              <a:rPr/>
              <a:t>Slower performance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5688C6A-8B12-D226-5E5D-7657E81DD9D4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NumPy Arrays</a:t>
            </a:r>
          </a:p>
          <a:p>
            <a:pPr lvl="0"/>
            <a:r>
              <a:rPr/>
              <a:t>Ordered, Mutable</a:t>
            </a:r>
          </a:p>
          <a:p>
            <a:pPr lvl="0"/>
            <a:r>
              <a:rPr b="1"/>
              <a:t>One</a:t>
            </a:r>
            <a:r>
              <a:rPr/>
              <a:t> data type per array</a:t>
            </a:r>
          </a:p>
          <a:p>
            <a:pPr lvl="0"/>
            <a:r>
              <a:rPr/>
              <a:t>Element-wise operations</a:t>
            </a:r>
          </a:p>
          <a:p>
            <a:pPr lvl="0"/>
            <a:r>
              <a:rPr/>
              <a:t>Fast &amp; memory efficient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. . 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D4EBB7-7476-2DE8-611A-CD8CF25AE913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list_ex = [1, 2, 3, 4]
print(list_ex)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5688C6A-8B12-D226-5E5D-7657E81DD9D4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import numpy as np
#notice that we explicitly call the np.array()
arr_ex = np.array([1, 2, 3, 4]) 
print(arr_ex)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are going to see these differences in detail.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from lists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purely numerical list can readily be converted to an array.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import numpy as np
# Create array from list
list1 = [1.,1.,2.,3.,5.,8.]
arr1 = np.array(list1)
print(arr1)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 type of the elements yields the </a:t>
            </a:r>
            <a:r>
              <a:rPr b="1"/>
              <a:t>data type</a:t>
            </a:r>
            <a:r>
              <a:rPr/>
              <a:t> of the array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print(arr1.dtype)</a:t>
            </a:r>
          </a:p>
          <a:p>
            <a:pPr lvl="0" indent="0" marL="1270000">
              <a:buNone/>
            </a:pPr>
            <a:r>
              <a:rPr sz="2000"/>
              <a:t>Try and change the list1 object to contain only integers and see the change!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 properties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possess plenty of properties.</a:t>
            </a:r>
          </a:p>
          <a:p>
            <a:pPr lvl="0" indent="0" marL="0">
              <a:buNone/>
            </a:pPr>
            <a:r>
              <a:rPr/>
              <a:t>These are accessed with the </a:t>
            </a:r>
            <a:r>
              <a:rPr>
                <a:latin typeface="Courier"/>
              </a:rPr>
              <a:t>.</a:t>
            </a:r>
            <a:r>
              <a:rPr/>
              <a:t> notation</a:t>
            </a:r>
            <a:r>
              <a:rPr baseline="30000">
                <a:hlinkClick r:id="rId2" action="ppaction://hlinksldjump"/>
              </a:rPr>
              <a:t>1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print(f"Data type: {arr1.dtype}")
print(f"Shape: {arr1.shape}")
print(f"Shape: {arr1.size}")</a:t>
            </a:r>
          </a:p>
          <a:p>
            <a:pPr lvl="0" indent="0" marL="0">
              <a:buNone/>
            </a:pPr>
            <a:r>
              <a:rPr/>
              <a:t>For now, we consider only 1d arrays, i.e. sequences. Their length is is their </a:t>
            </a:r>
            <a:r>
              <a:rPr>
                <a:latin typeface="Courier"/>
              </a:rPr>
              <a:t>size</a:t>
            </a:r>
            <a:r>
              <a:rPr/>
              <a:t> and corresponds to the first element of the property </a:t>
            </a:r>
            <a:r>
              <a:rPr>
                <a:latin typeface="Courier"/>
              </a:rPr>
              <a:t>shape</a:t>
            </a:r>
            <a:r>
              <a:rPr/>
              <a:t>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Accessing array elements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Similarly to lists, we access an element in an array via zero-based </a:t>
            </a:r>
            <a:r>
              <a:rPr b="1"/>
              <a:t>indexing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print(arr1[0])    # First element
print(arr1[-1])   # Last element</a:t>
            </a:r>
          </a:p>
          <a:p>
            <a:pPr lvl="0" indent="0" marL="0">
              <a:buNone/>
            </a:pPr>
            <a:r>
              <a:rPr/>
              <a:t>Again, similarly to lists, we can access regions of the array via </a:t>
            </a:r>
            <a:r>
              <a:rPr b="1"/>
              <a:t>slicing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print(arr1[3:6])  # Elements from index 3 to 6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Element-wise Operations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main motivation to use arrays is that lists are cumbersome when performing maths.</a:t>
            </a:r>
          </a:p>
          <a:p>
            <a:pPr lvl="0" indent="0" marL="0">
              <a:buNone/>
            </a:pPr>
            <a:r>
              <a:rPr/>
              <a:t>Suppose we have a list and want to double all of its elements: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list1 = [1,2,3,4]</a:t>
            </a:r>
          </a:p>
          <a:p>
            <a:pPr lvl="0" indent="0" marL="0">
              <a:buNone/>
            </a:pPr>
            <a:r>
              <a:rPr/>
              <a:t>We need to loop over all of them and create a new list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list2 = []
for item in list1:
    list2.append(2*item)
print(list2)</a:t>
            </a:r>
          </a:p>
          <a:p>
            <a:pPr lvl="0" indent="0" marL="0">
              <a:buNone/>
            </a:pPr>
            <a:r>
              <a:rPr/>
              <a:t>In fact, we can do this in a slightly more compact way using </a:t>
            </a:r>
            <a:r>
              <a:rPr b="1"/>
              <a:t>list comprehension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list2 = [item*2 for item in list1]</a:t>
            </a:r>
          </a:p>
          <a:p>
            <a:pPr lvl="0" indent="0" marL="0">
              <a:buNone/>
            </a:pPr>
            <a:r>
              <a:rPr/>
              <a:t>Still, an explicit loop is needed. Loops in Python are </a:t>
            </a:r>
            <a:r>
              <a:rPr b="1"/>
              <a:t>slow</a:t>
            </a:r>
            <a:r>
              <a:rPr/>
              <a:t>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Element-wise Operations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numpy</a:t>
            </a:r>
            <a:r>
              <a:rPr/>
              <a:t> syntax avoids the explicit Python loop.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arr1 = np.array(list1)
arr2 = 2*arr1
print(arr2)</a:t>
            </a:r>
          </a:p>
          <a:p>
            <a:pPr lvl="0" indent="0" marL="0">
              <a:buNone/>
            </a:pPr>
            <a:r>
              <a:rPr/>
              <a:t>This is not just a cosmetic change: under the hood </a:t>
            </a:r>
            <a:r>
              <a:rPr>
                <a:latin typeface="Courier"/>
              </a:rPr>
              <a:t>numpy</a:t>
            </a:r>
            <a:r>
              <a:rPr/>
              <a:t> uses an efficient architecture that performs operations in </a:t>
            </a:r>
            <a:r>
              <a:rPr b="1"/>
              <a:t>compiled code</a:t>
            </a:r>
            <a:r>
              <a:rPr/>
              <a:t>, making it much faster than Python loops.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Performance advantage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performance difference can be tracked explicitly.</a:t>
            </a:r>
          </a:p>
          <a:p>
            <a:pPr lvl="0" indent="0" marL="0">
              <a:buNone/>
            </a:pPr>
            <a:r>
              <a:rPr/>
              <a:t>We create a large list and a large array with identical content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# Create a large list and array
large_list = list(range(1_000_000))
large_array = np.array(large_list)</a:t>
            </a:r>
          </a:p>
          <a:p>
            <a:pPr lvl="0" indent="0" marL="0">
              <a:buNone/>
            </a:pPr>
            <a:r>
              <a:rPr/>
              <a:t>And then track the time for the two operations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import time
#  Track the time taken for the list multiplication
start = time.time()
list_result = [x * 2 for x in large_list]
end = time.time()
print(f"List comprehension time: {end - start:.5f} seconds")
# Time array multiplication
start = time.time()
array_result = large_array * 2
end = time.time()
print(f"NumPy array time: {end - start:.5f} seconds")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General mathematical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multiplication we performed earlier is done </a:t>
            </a:r>
            <a:r>
              <a:rPr b="1"/>
              <a:t>element-wise</a:t>
            </a:r>
            <a:r>
              <a:rPr/>
              <a:t>: every element is update according to teh same rule.</a:t>
            </a:r>
          </a:p>
          <a:p>
            <a:pPr lvl="0" indent="0" marL="0">
              <a:buNone/>
            </a:pPr>
            <a:r>
              <a:rPr/>
              <a:t>We can apply plenty of element-wise operations to the arrays.</a:t>
            </a:r>
          </a:p>
          <a:p>
            <a:pPr lvl="0" indent="0" marL="0">
              <a:buNone/>
            </a:pPr>
            <a:r>
              <a:rPr/>
              <a:t>Many of these are available as </a:t>
            </a:r>
            <a:r>
              <a:rPr>
                <a:latin typeface="Courier"/>
              </a:rPr>
              <a:t>numpy</a:t>
            </a:r>
            <a:r>
              <a:rPr/>
              <a:t> functions directly accessed from the </a:t>
            </a:r>
            <a:r>
              <a:rPr>
                <a:latin typeface="Courier"/>
              </a:rPr>
              <a:t>np.</a:t>
            </a:r>
            <a:r>
              <a:rPr/>
              <a:t> module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# Element-wise functions
print(f"Square root: {np.sqrt(arr1)}")
print(f"Mean: {np.mean(arr1)}")
print(f"Cosine: {np.cos(arr1)}")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 operations do not modify the original array, but produce </a:t>
            </a:r>
            <a:r>
              <a:rPr b="1"/>
              <a:t>new copies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arr2 = arr1*3/2 + 5
print(f"Original: {arr1}")
print(f"Modified: {arr2}")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6D449D4-319E-2279-3396-A353F513B9D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Other convenent </a:t>
                </a:r>
                <a:r>
                  <a:rPr>
                    <a:latin typeface="Courier"/>
                  </a:rPr>
                  <a:t>numpy</a:t>
                </a:r>
                <a:r>
                  <a:rPr/>
                  <a:t> functions allow you to accumulate values without loops.</a:t>
                </a:r>
              </a:p>
              <a:p>
                <a:pPr lvl="0" indent="0" marL="0">
                  <a:buNone/>
                </a:pPr>
                <a:r>
                  <a:rPr/>
                  <a:t>Assume we have an array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x = np.array([1,2,3,4,5,6,7,8])</a:t>
                </a:r>
              </a:p>
              <a:p>
                <a:pPr lvl="0" indent="0" marL="0">
                  <a:buNone/>
                </a:pPr>
                <a:r>
                  <a:rPr b="1"/>
                  <a:t>Sums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In NumPy, this is translated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S = np.sum(x)
print(S)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6D449D4-319E-2279-3396-A353F513B9D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Cumulative sums</a:t>
                </a:r>
              </a:p>
              <a:p>
                <a:pPr lvl="0" indent="0" marL="0">
                  <a:buNone/>
                </a:pPr>
                <a:r>
                  <a:rPr/>
                  <a:t>A cumulative sum is a sequence where each element is the sum of all previous elements up to that position.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i</m:t>
                          </m:r>
                        </m:sup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In NumPy, this is translated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 y = np.cumsum(x)
 print(y)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Example: molecular masses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6D449D4-319E-2279-3396-A353F513B9D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consider the formula for the </a:t>
                </a:r>
                <a:r>
                  <a:rPr b="1"/>
                  <a:t>molecular mass</a:t>
                </a:r>
                <a:r>
                  <a:rPr/>
                  <a:t> of a compound: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M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sSub>
                            <m:e>
                              <m:r>
                                <m:t>a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  <m:sSub>
                        <m:e>
                          <m:r>
                            <m:t>m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number of atoms of element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m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atomic mass of element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With </a:t>
                </a:r>
                <a:r>
                  <a:rPr>
                    <a:latin typeface="Courier"/>
                  </a:rPr>
                  <a:t>numpy</a:t>
                </a:r>
                <a:r>
                  <a:rPr/>
                  <a:t>, you can compute this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a = np.array([2, 1, 4])      # Number of atoms for each element
m = np.array([12.01, 1.01, 16.00])  # Atomic masses (e.g., C, H, O)
M = np.sum(a * m)
print(f"Molecular mass: {M}")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Operations between arrays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can perform arithmetic operations directly between arrays of the same shape. Operations like addition, subtraction, multiplication, and division are applied </a:t>
            </a:r>
            <a:r>
              <a:rPr b="1"/>
              <a:t>element-wise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For example:</a:t>
            </a:r>
          </a:p>
          <a:p>
            <a:pPr lvl="0" indent="0" marL="0">
              <a:buNone/>
            </a:pPr>
            <a:r>
              <a:rPr b="1"/>
              <a:t>Element-wise operations: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added = arr1 + arr2
multiplied = arr1 * arr2
print(f"Added: {added}")
print(f"Multiplied: {multiplied}")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 b="1"/>
              <a:t>Note:</a:t>
            </a:r>
            <a:r>
              <a:rPr/>
              <a:t> Arrays must have compatible shapes!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arr3 = np.array([1, 2, 3])
arr4 = np.array([4, 5])
result = arr3 + arr4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Combining arrays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lists, the </a:t>
            </a:r>
            <a:r>
              <a:rPr>
                <a:latin typeface="Courier"/>
              </a:rPr>
              <a:t>+</a:t>
            </a:r>
            <a:r>
              <a:rPr/>
              <a:t> operator concatenated different lists. Since for arrays the sign </a:t>
            </a:r>
            <a:r>
              <a:rPr>
                <a:latin typeface="Courier"/>
              </a:rPr>
              <a:t>+</a:t>
            </a:r>
            <a:r>
              <a:rPr/>
              <a:t> corresponds to true mathematical addition, a dedicated concatenation function exists: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combined = np.concatenate([arr1, arr2])
print(f"Unique elements: {combined}")</a:t>
            </a:r>
          </a:p>
          <a:p>
            <a:pPr lvl="0" indent="0" marL="0">
              <a:buNone/>
            </a:pPr>
            <a:r>
              <a:rPr/>
              <a:t>Many other variations of concatenation exist. Consult the </a:t>
            </a:r>
            <a:r>
              <a:rPr>
                <a:hlinkClick r:id="rId2"/>
              </a:rPr>
              <a:t>documentation</a:t>
            </a:r>
            <a:r>
              <a:rPr/>
              <a:t>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NumPy arrays</a:t>
            </a:r>
            <a:r>
              <a:rPr/>
              <a:t> are optimized for numerical operations</a:t>
            </a:r>
          </a:p>
          <a:p>
            <a:pPr lvl="0"/>
            <a:r>
              <a:rPr b="1"/>
              <a:t>Element-wise operations</a:t>
            </a:r>
            <a:r>
              <a:rPr/>
              <a:t> work implicitly</a:t>
            </a:r>
          </a:p>
          <a:p>
            <a:pPr lvl="0"/>
            <a:r>
              <a:rPr b="1"/>
              <a:t>Performance benefits</a:t>
            </a:r>
            <a:r>
              <a:rPr/>
              <a:t> for large datasets</a:t>
            </a:r>
          </a:p>
          <a:p>
            <a:pPr lvl="0"/>
            <a:r>
              <a:rPr b="1"/>
              <a:t>Mathematical functions</a:t>
            </a:r>
            <a:r>
              <a:rPr/>
              <a:t> apply to entire arrays</a:t>
            </a:r>
          </a:p>
          <a:p>
            <a:pPr lvl="0"/>
            <a:r>
              <a:rPr b="1"/>
              <a:t>Shape compatibility</a:t>
            </a:r>
            <a:r>
              <a:rPr/>
              <a:t> required for operations</a:t>
            </a:r>
          </a:p>
          <a:p>
            <a:pPr lvl="0"/>
            <a:r>
              <a:rPr/>
              <a:t>Choose the </a:t>
            </a:r>
            <a:r>
              <a:rPr b="1"/>
              <a:t>right tool</a:t>
            </a:r>
            <a:r>
              <a:rPr/>
              <a:t> for your task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use </a:t>
            </a:r>
            <a:r>
              <a:rPr sz="1800">
                <a:latin typeface="Courier"/>
              </a:rPr>
              <a:t>.</a:t>
            </a:r>
            <a:r>
              <a:rPr sz="1800"/>
              <a:t> and then </a:t>
            </a:r>
            <a:r>
              <a:rPr sz="1800">
                <a:latin typeface="Courier"/>
              </a:rPr>
              <a:t>TAB</a:t>
            </a:r>
            <a:r>
              <a:rPr sz="1800"/>
              <a:t> to see all of the properties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0</Words>
  <Application>Microsoft Macintosh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Aptos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numpy module</dc:title>
  <dc:creator/>
  <cp:keywords/>
  <dcterms:created xsi:type="dcterms:W3CDTF">2025-10-03T09:47:51Z</dcterms:created>
  <dcterms:modified xsi:type="dcterms:W3CDTF">2025-10-03T09:47:51Z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xecute">
    <vt:lpwstr/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toc-title">
    <vt:lpwstr>Table of contents</vt:lpwstr>
  </property>
</Properties>
</file>