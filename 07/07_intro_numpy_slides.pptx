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Cambria Math" panose="02040503050406030204" pitchFamily="18" charset="0"/>
      <p:regular r:id="rId19"/>
    </p:embeddedFont>
    <p:embeddedFont>
      <p:font typeface="Courier" panose="02070309020205020404" pitchFamily="49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3D85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70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6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10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spcFirstLastPara="1" wrap="square" lIns="457200" tIns="457200" rIns="0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  <a:defRPr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body" idx="1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body" idx="1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numpy.org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numpy.org/doc/stable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The </a:t>
            </a:r>
            <a:r>
              <a:rPr>
                <a:latin typeface="Courier"/>
              </a:rPr>
              <a:t>numpy</a:t>
            </a:r>
            <a:r>
              <a:t> module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br/>
            <a:br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Aims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By the end of this lecture, you will be able to:</a:t>
            </a:r>
          </a:p>
          <a:p>
            <a:pPr lvl="0"/>
            <a:r>
              <a:t>Explain what the NumPy module is and why it is used</a:t>
            </a:r>
          </a:p>
          <a:p>
            <a:pPr lvl="0"/>
            <a:r>
              <a:t>Create and manipulate NumPy arrays</a:t>
            </a:r>
          </a:p>
          <a:p>
            <a:pPr lvl="0"/>
            <a:r>
              <a:t>Perform element-wise operations and mathematical functions on arrays</a:t>
            </a:r>
          </a:p>
          <a:p>
            <a:pPr lvl="0"/>
            <a:r>
              <a:t>Compare NumPy arrays with Python lists in terms of performance and functionality</a:t>
            </a:r>
          </a:p>
          <a:p>
            <a:pPr lvl="0"/>
            <a:r>
              <a:t>Use basic aggregation and array manipulation functions in NumPy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7798"/>
            <a:ext cx="6826101" cy="871538"/>
          </a:xfrm>
        </p:spPr>
        <p:txBody>
          <a:bodyPr/>
          <a:lstStyle/>
          <a:p>
            <a:pPr marL="0" lvl="0" indent="0">
              <a:buNone/>
            </a:pPr>
            <a:r>
              <a:rPr sz="3600" dirty="0"/>
              <a:t>What is </a:t>
            </a:r>
            <a:r>
              <a:rPr sz="3600" dirty="0" err="1">
                <a:latin typeface="Courier"/>
              </a:rPr>
              <a:t>numpy</a:t>
            </a:r>
            <a:r>
              <a:rPr sz="3600" dirty="0"/>
              <a:t>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772869"/>
            <a:ext cx="10090297" cy="3605795"/>
          </a:xfrm>
        </p:spPr>
        <p:txBody>
          <a:bodyPr/>
          <a:lstStyle/>
          <a:p>
            <a:pPr marL="0" lvl="0" indent="0">
              <a:buNone/>
            </a:pPr>
            <a:r>
              <a:rPr sz="1800" b="1" dirty="0"/>
              <a:t>NumPy</a:t>
            </a:r>
            <a:r>
              <a:rPr sz="1800" dirty="0"/>
              <a:t> is a Python library that makes working with numbers and large collections of data fast and easy.</a:t>
            </a:r>
          </a:p>
        </p:txBody>
      </p:sp>
      <p:pic>
        <p:nvPicPr>
          <p:cNvPr id="5" name="Picture 1" descr="https://numpy.org/doc/stable/_static/numpylogo.svg"/>
          <p:cNvPicPr>
            <a:picLocks noGrp="1"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6531198" y="2317898"/>
            <a:ext cx="5105400" cy="2451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TextBox 3"/>
          <p:cNvSpPr txBox="1"/>
          <p:nvPr/>
        </p:nvSpPr>
        <p:spPr>
          <a:xfrm>
            <a:off x="6205574" y="5306385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Complete description at </a:t>
            </a:r>
            <a:r>
              <a:rPr dirty="0">
                <a:hlinkClick r:id="rId4"/>
              </a:rPr>
              <a:t>https://numpy.org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5402" y="2419564"/>
            <a:ext cx="5650172" cy="2451100"/>
          </a:xfrm>
        </p:spPr>
        <p:txBody>
          <a:bodyPr/>
          <a:lstStyle/>
          <a:p>
            <a:pPr marL="0" lvl="0" indent="0">
              <a:buNone/>
            </a:pPr>
            <a:r>
              <a:rPr sz="1800" dirty="0"/>
              <a:t>It provides special </a:t>
            </a:r>
            <a:r>
              <a:rPr sz="1800" b="1" dirty="0"/>
              <a:t>array</a:t>
            </a:r>
            <a:r>
              <a:rPr sz="1800" dirty="0"/>
              <a:t> objects and tools for doing math efficiently, which is useful for data analysis and scientific computing.</a:t>
            </a:r>
          </a:p>
          <a:p>
            <a:pPr marL="0" lvl="0" indent="0">
              <a:buNone/>
            </a:pPr>
            <a:r>
              <a:rPr sz="1800" dirty="0"/>
              <a:t>It is imported in your session using the following command</a:t>
            </a:r>
          </a:p>
          <a:p>
            <a:pPr lvl="0" indent="0">
              <a:buNone/>
            </a:pPr>
            <a:r>
              <a:rPr sz="1800" dirty="0">
                <a:solidFill>
                  <a:srgbClr val="00769E"/>
                </a:solidFill>
                <a:latin typeface="Courier"/>
              </a:rPr>
              <a:t>import</a:t>
            </a:r>
            <a:r>
              <a:rPr sz="1800" dirty="0">
                <a:solidFill>
                  <a:srgbClr val="003B4F"/>
                </a:solidFill>
                <a:latin typeface="Courier"/>
              </a:rPr>
              <a:t> </a:t>
            </a:r>
            <a:r>
              <a:rPr sz="1800" dirty="0" err="1">
                <a:solidFill>
                  <a:srgbClr val="003B4F"/>
                </a:solidFill>
                <a:latin typeface="Courier"/>
              </a:rPr>
              <a:t>numpy</a:t>
            </a:r>
            <a:endParaRPr sz="1800" dirty="0">
              <a:solidFill>
                <a:srgbClr val="003B4F"/>
              </a:solidFill>
              <a:latin typeface="Courier"/>
            </a:endParaRPr>
          </a:p>
          <a:p>
            <a:pPr marL="0" lvl="0" indent="0">
              <a:buNone/>
            </a:pPr>
            <a:r>
              <a:rPr sz="1800" dirty="0"/>
              <a:t>We will follow a common practice and use a shorthand with the </a:t>
            </a:r>
            <a:r>
              <a:rPr sz="1800" dirty="0">
                <a:latin typeface="Courier"/>
              </a:rPr>
              <a:t>as</a:t>
            </a:r>
            <a:r>
              <a:rPr sz="1800" dirty="0"/>
              <a:t> syntax</a:t>
            </a:r>
          </a:p>
          <a:p>
            <a:pPr lvl="0" indent="0">
              <a:buNone/>
            </a:pPr>
            <a:r>
              <a:rPr sz="1800" dirty="0">
                <a:solidFill>
                  <a:srgbClr val="00769E"/>
                </a:solidFill>
                <a:latin typeface="Courier"/>
              </a:rPr>
              <a:t>import</a:t>
            </a:r>
            <a:r>
              <a:rPr sz="1800" dirty="0">
                <a:solidFill>
                  <a:srgbClr val="003B4F"/>
                </a:solidFill>
                <a:latin typeface="Courier"/>
              </a:rPr>
              <a:t> </a:t>
            </a:r>
            <a:r>
              <a:rPr sz="1800" dirty="0" err="1">
                <a:solidFill>
                  <a:srgbClr val="003B4F"/>
                </a:solidFill>
                <a:latin typeface="Courier"/>
              </a:rPr>
              <a:t>numpy</a:t>
            </a:r>
            <a:r>
              <a:rPr sz="1800" dirty="0">
                <a:solidFill>
                  <a:srgbClr val="003B4F"/>
                </a:solidFill>
                <a:latin typeface="Courier"/>
              </a:rPr>
              <a:t> </a:t>
            </a:r>
            <a:r>
              <a:rPr sz="1800" dirty="0">
                <a:solidFill>
                  <a:srgbClr val="00769E"/>
                </a:solidFill>
                <a:latin typeface="Courier"/>
              </a:rPr>
              <a:t>as</a:t>
            </a:r>
            <a:r>
              <a:rPr sz="1800" dirty="0">
                <a:solidFill>
                  <a:srgbClr val="003B4F"/>
                </a:solidFill>
                <a:latin typeface="Courier"/>
              </a:rPr>
              <a:t> np</a:t>
            </a:r>
          </a:p>
          <a:p>
            <a:pPr marL="0" lvl="0" indent="0">
              <a:buNone/>
            </a:pPr>
            <a:r>
              <a:rPr sz="1800" dirty="0"/>
              <a:t>So </a:t>
            </a:r>
            <a:r>
              <a:rPr sz="1800" dirty="0">
                <a:latin typeface="Courier"/>
              </a:rPr>
              <a:t>np</a:t>
            </a:r>
            <a:r>
              <a:rPr sz="1800" dirty="0"/>
              <a:t> will always mean </a:t>
            </a:r>
            <a:r>
              <a:rPr sz="1800" dirty="0" err="1">
                <a:latin typeface="Courier"/>
              </a:rPr>
              <a:t>numpy</a:t>
            </a:r>
            <a:r>
              <a:rPr sz="1800" dirty="0"/>
              <a:t> for 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Arrays vs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1708" y="1860658"/>
            <a:ext cx="10058400" cy="2630573"/>
          </a:xfrm>
        </p:spPr>
        <p:txBody>
          <a:bodyPr numCol="2"/>
          <a:lstStyle/>
          <a:p>
            <a:pPr marL="0" lvl="0" indent="0">
              <a:buNone/>
            </a:pPr>
            <a:r>
              <a:rPr b="1" dirty="0"/>
              <a:t>Python Lists</a:t>
            </a:r>
          </a:p>
          <a:p>
            <a:pPr lvl="0"/>
            <a:r>
              <a:rPr dirty="0"/>
              <a:t>Ordered, Mutable</a:t>
            </a:r>
            <a:br>
              <a:rPr dirty="0"/>
            </a:br>
            <a:endParaRPr dirty="0"/>
          </a:p>
          <a:p>
            <a:pPr lvl="0"/>
            <a:r>
              <a:rPr dirty="0"/>
              <a:t>Mixed data types</a:t>
            </a:r>
          </a:p>
          <a:p>
            <a:pPr lvl="0"/>
            <a:r>
              <a:rPr dirty="0"/>
              <a:t>Explicit operations needed</a:t>
            </a:r>
          </a:p>
          <a:p>
            <a:pPr lvl="0"/>
            <a:r>
              <a:rPr dirty="0"/>
              <a:t>Slower performance</a:t>
            </a:r>
          </a:p>
          <a:p>
            <a:pPr marL="0" lvl="0" indent="0">
              <a:buNone/>
            </a:pPr>
            <a:r>
              <a:rPr b="1" dirty="0"/>
              <a:t>NumPy Arrays</a:t>
            </a:r>
          </a:p>
          <a:p>
            <a:pPr lvl="0"/>
            <a:r>
              <a:rPr dirty="0"/>
              <a:t>Ordered, Mutable</a:t>
            </a:r>
          </a:p>
          <a:p>
            <a:pPr lvl="0"/>
            <a:r>
              <a:rPr b="1" dirty="0"/>
              <a:t>One</a:t>
            </a:r>
            <a:r>
              <a:rPr dirty="0"/>
              <a:t> data type per array</a:t>
            </a:r>
          </a:p>
          <a:p>
            <a:pPr lvl="0"/>
            <a:r>
              <a:rPr dirty="0"/>
              <a:t>Element-wise operations</a:t>
            </a:r>
          </a:p>
          <a:p>
            <a:pPr lvl="0"/>
            <a:r>
              <a:rPr dirty="0"/>
              <a:t>Fast &amp; memory efficient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087CA4-B0F1-16F9-839D-207C9A9DFF53}"/>
              </a:ext>
            </a:extLst>
          </p:cNvPr>
          <p:cNvSpPr txBox="1"/>
          <p:nvPr/>
        </p:nvSpPr>
        <p:spPr>
          <a:xfrm>
            <a:off x="1858039" y="4614530"/>
            <a:ext cx="609777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0">
              <a:buNone/>
            </a:pPr>
            <a:r>
              <a:rPr lang="en-GB" dirty="0" err="1">
                <a:latin typeface="Courier"/>
              </a:rPr>
              <a:t>list_ex</a:t>
            </a:r>
            <a:r>
              <a:rPr lang="en-GB" dirty="0">
                <a:latin typeface="Courier"/>
              </a:rPr>
              <a:t> = [1, 2, 3, 4]
print(</a:t>
            </a:r>
            <a:r>
              <a:rPr lang="en-GB" dirty="0" err="1">
                <a:latin typeface="Courier"/>
              </a:rPr>
              <a:t>list_ex</a:t>
            </a:r>
            <a:r>
              <a:rPr lang="en-GB" dirty="0">
                <a:latin typeface="Courier"/>
              </a:rPr>
              <a:t>)</a:t>
            </a:r>
          </a:p>
          <a:p>
            <a:pPr lvl="0" indent="0">
              <a:buNone/>
            </a:pPr>
            <a:r>
              <a:rPr lang="en-GB" dirty="0">
                <a:latin typeface="Courier"/>
              </a:rPr>
              <a:t>import </a:t>
            </a:r>
            <a:r>
              <a:rPr lang="en-GB" dirty="0" err="1">
                <a:latin typeface="Courier"/>
              </a:rPr>
              <a:t>numpy</a:t>
            </a:r>
            <a:r>
              <a:rPr lang="en-GB" dirty="0">
                <a:latin typeface="Courier"/>
              </a:rPr>
              <a:t> as np
#notice that we explicitly call the </a:t>
            </a:r>
            <a:r>
              <a:rPr lang="en-GB" dirty="0" err="1">
                <a:latin typeface="Courier"/>
              </a:rPr>
              <a:t>np.array</a:t>
            </a:r>
            <a:r>
              <a:rPr lang="en-GB" dirty="0">
                <a:latin typeface="Courier"/>
              </a:rPr>
              <a:t>()
</a:t>
            </a:r>
            <a:r>
              <a:rPr lang="en-GB" dirty="0" err="1">
                <a:latin typeface="Courier"/>
              </a:rPr>
              <a:t>arr_ex</a:t>
            </a:r>
            <a:r>
              <a:rPr lang="en-GB" dirty="0">
                <a:latin typeface="Courier"/>
              </a:rPr>
              <a:t> = </a:t>
            </a:r>
            <a:r>
              <a:rPr lang="en-GB" dirty="0" err="1">
                <a:latin typeface="Courier"/>
              </a:rPr>
              <a:t>np.array</a:t>
            </a:r>
            <a:r>
              <a:rPr lang="en-GB" dirty="0">
                <a:latin typeface="Courier"/>
              </a:rPr>
              <a:t>([1, 2, 3, 4]) 
print(</a:t>
            </a:r>
            <a:r>
              <a:rPr lang="en-GB" dirty="0" err="1">
                <a:latin typeface="Courier"/>
              </a:rPr>
              <a:t>arr_ex</a:t>
            </a:r>
            <a:r>
              <a:rPr lang="en-GB" dirty="0">
                <a:latin typeface="Courier"/>
              </a:rPr>
              <a:t>)</a:t>
            </a:r>
          </a:p>
          <a:p>
            <a:pPr marL="0" lvl="0" indent="0">
              <a:buNone/>
            </a:pPr>
            <a:r>
              <a:rPr lang="en-GB" dirty="0"/>
              <a:t>We are going to see these differences in detail.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Arrays from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A purely numerical list can readily be converted to an array.</a:t>
            </a:r>
          </a:p>
          <a:p>
            <a:pPr lvl="0" indent="0">
              <a:buNone/>
            </a:pPr>
            <a:r>
              <a:rPr>
                <a:latin typeface="Courier"/>
              </a:rPr>
              <a:t>import numpy as np
# Create array from list
list1 = [1.,1.,2.,3.,5.,8.]
arr1 = np.array(list1)
print(arr1)</a:t>
            </a:r>
          </a:p>
          <a:p>
            <a:pPr marL="0" lvl="0" indent="0">
              <a:buNone/>
            </a:pPr>
            <a:r>
              <a:t>The type of the elements yields the </a:t>
            </a:r>
            <a:r>
              <a:rPr b="1"/>
              <a:t>data type</a:t>
            </a:r>
            <a:r>
              <a:t> of the array</a:t>
            </a:r>
          </a:p>
          <a:p>
            <a:pPr lvl="0" indent="0">
              <a:buNone/>
            </a:pPr>
            <a:r>
              <a:rPr>
                <a:latin typeface="Courier"/>
              </a:rPr>
              <a:t>print(arr1.dtype)</a:t>
            </a:r>
          </a:p>
          <a:p>
            <a:pPr marL="1270000" lvl="0" indent="0">
              <a:buNone/>
            </a:pPr>
            <a:r>
              <a:rPr sz="2000"/>
              <a:t>Try and change the list1 object to contain only integers and see the change!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Array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Arrays possess plenty of properties.</a:t>
            </a:r>
          </a:p>
          <a:p>
            <a:pPr marL="0" lvl="0" indent="0">
              <a:buNone/>
            </a:pPr>
            <a:r>
              <a:t>These are accessed with the </a:t>
            </a:r>
            <a:r>
              <a:rPr>
                <a:latin typeface="Courier"/>
              </a:rPr>
              <a:t>.</a:t>
            </a:r>
            <a:r>
              <a:t> notation.</a:t>
            </a:r>
          </a:p>
          <a:p>
            <a:pPr lvl="0" indent="0">
              <a:buNone/>
            </a:pPr>
            <a:r>
              <a:rPr>
                <a:latin typeface="Courier"/>
              </a:rPr>
              <a:t>print(f"Data type: {arr1.dtype}")
print(f"Shape: {arr1.shape}")
print(f"Shape: {arr1.size}")</a:t>
            </a:r>
          </a:p>
          <a:p>
            <a:pPr marL="0" lvl="0" indent="0">
              <a:buNone/>
            </a:pPr>
            <a:r>
              <a:t>For now, we consider only 1d arrays, i.e. sequences. Their length is is their </a:t>
            </a:r>
            <a:r>
              <a:rPr>
                <a:latin typeface="Courier"/>
              </a:rPr>
              <a:t>size</a:t>
            </a:r>
            <a:r>
              <a:t> and corresponds to the first element of the property </a:t>
            </a:r>
            <a:r>
              <a:rPr>
                <a:latin typeface="Courier"/>
              </a:rPr>
              <a:t>shape</a:t>
            </a:r>
            <a: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Accessing array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Similarly to lists, we access an element in an array via zero-based </a:t>
            </a:r>
            <a:r>
              <a:rPr b="1"/>
              <a:t>indexing</a:t>
            </a:r>
          </a:p>
          <a:p>
            <a:pPr lvl="0" indent="0">
              <a:buNone/>
            </a:pPr>
            <a:r>
              <a:rPr>
                <a:latin typeface="Courier"/>
              </a:rPr>
              <a:t>print(arr1[0])    # First element
print(arr1[-1])   # Last element</a:t>
            </a:r>
          </a:p>
          <a:p>
            <a:pPr marL="0" lvl="0" indent="0">
              <a:buNone/>
            </a:pPr>
            <a:r>
              <a:t>Again, similarly to lists, we can access regions of the array via </a:t>
            </a:r>
            <a:r>
              <a:rPr b="1"/>
              <a:t>slicing</a:t>
            </a:r>
          </a:p>
          <a:p>
            <a:pPr lvl="0" indent="0">
              <a:buNone/>
            </a:pPr>
            <a:r>
              <a:rPr>
                <a:latin typeface="Courier"/>
              </a:rPr>
              <a:t>print(arr1[3:6])  # Elements from index 3 to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450757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Element-wise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sz="1600" dirty="0"/>
              <a:t>The main motivation to use arrays is that lists are cumbersome when performing </a:t>
            </a:r>
            <a:r>
              <a:rPr sz="1600" dirty="0" err="1"/>
              <a:t>maths</a:t>
            </a:r>
            <a:r>
              <a:rPr sz="1600" dirty="0"/>
              <a:t>.</a:t>
            </a:r>
          </a:p>
          <a:p>
            <a:pPr marL="0" lvl="0" indent="0">
              <a:buNone/>
            </a:pPr>
            <a:r>
              <a:rPr sz="1600" dirty="0"/>
              <a:t>Suppose we have a list and want to double all of its elements:</a:t>
            </a:r>
          </a:p>
          <a:p>
            <a:pPr lvl="0" indent="0">
              <a:buNone/>
            </a:pPr>
            <a:r>
              <a:rPr sz="1600" dirty="0">
                <a:latin typeface="Courier"/>
              </a:rPr>
              <a:t>list1 = [1,2,3,4]</a:t>
            </a:r>
          </a:p>
          <a:p>
            <a:pPr marL="0" lvl="0" indent="0">
              <a:buNone/>
            </a:pPr>
            <a:r>
              <a:rPr sz="1600" dirty="0"/>
              <a:t>We need to loop over all of them and create a new list</a:t>
            </a:r>
          </a:p>
          <a:p>
            <a:pPr lvl="0" indent="0">
              <a:buNone/>
            </a:pPr>
            <a:r>
              <a:rPr sz="1600" dirty="0">
                <a:latin typeface="Courier"/>
              </a:rPr>
              <a:t>list2 = []
for item in list1:
    list2.append(2*item)
print(list2)</a:t>
            </a:r>
          </a:p>
          <a:p>
            <a:pPr marL="0" lvl="0" indent="0">
              <a:buNone/>
            </a:pPr>
            <a:r>
              <a:rPr sz="1600" dirty="0"/>
              <a:t>In fact, we can do this in a slightly more compact way using </a:t>
            </a:r>
            <a:r>
              <a:rPr sz="1600" b="1" dirty="0"/>
              <a:t>list comprehension</a:t>
            </a:r>
          </a:p>
          <a:p>
            <a:pPr lvl="0" indent="0">
              <a:buNone/>
            </a:pPr>
            <a:r>
              <a:rPr sz="1600" dirty="0">
                <a:latin typeface="Courier"/>
              </a:rPr>
              <a:t>list2 = [item*2 for item in list1]</a:t>
            </a:r>
          </a:p>
          <a:p>
            <a:pPr marL="0" lvl="0" indent="0">
              <a:buNone/>
            </a:pPr>
            <a:r>
              <a:rPr sz="1600" dirty="0"/>
              <a:t>Still, an explicit loop is needed. Loops in Python are </a:t>
            </a:r>
            <a:r>
              <a:rPr sz="1600" b="1" dirty="0"/>
              <a:t>slow</a:t>
            </a:r>
            <a:r>
              <a:rPr sz="1600"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Element-wise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The </a:t>
            </a:r>
            <a:r>
              <a:rPr>
                <a:latin typeface="Courier"/>
              </a:rPr>
              <a:t>numpy</a:t>
            </a:r>
            <a:r>
              <a:t> syntax avoids the explicit Python loop.</a:t>
            </a:r>
          </a:p>
          <a:p>
            <a:pPr lvl="0" indent="0">
              <a:buNone/>
            </a:pPr>
            <a:r>
              <a:rPr>
                <a:latin typeface="Courier"/>
              </a:rPr>
              <a:t>arr1 = np.array(list1)
arr2 = 2*arr1
print(arr2)</a:t>
            </a:r>
          </a:p>
          <a:p>
            <a:pPr marL="0" lvl="0" indent="0">
              <a:buNone/>
            </a:pPr>
            <a:r>
              <a:t>This is not just a cosmetic change: under the hood </a:t>
            </a:r>
            <a:r>
              <a:rPr>
                <a:latin typeface="Courier"/>
              </a:rPr>
              <a:t>numpy</a:t>
            </a:r>
            <a:r>
              <a:t> uses an efficient architecture that performs operations in </a:t>
            </a:r>
            <a:r>
              <a:rPr b="1"/>
              <a:t>compiled code</a:t>
            </a:r>
            <a:r>
              <a:t>, making it much faster than Python loops.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36219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Performance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926" y="1845734"/>
            <a:ext cx="6097772" cy="4023360"/>
          </a:xfrm>
        </p:spPr>
        <p:txBody>
          <a:bodyPr/>
          <a:lstStyle/>
          <a:p>
            <a:pPr marL="0" lvl="0" indent="0">
              <a:buNone/>
            </a:pPr>
            <a:r>
              <a:rPr sz="1600" dirty="0"/>
              <a:t>This performance difference can be tracked explicitly.</a:t>
            </a:r>
          </a:p>
          <a:p>
            <a:pPr marL="0" lvl="0" indent="0">
              <a:buNone/>
            </a:pPr>
            <a:r>
              <a:rPr sz="1600" dirty="0"/>
              <a:t>We create a large list and a large array with identical content</a:t>
            </a:r>
          </a:p>
          <a:p>
            <a:pPr lvl="0" indent="0">
              <a:buNone/>
            </a:pPr>
            <a:r>
              <a:rPr sz="1600" dirty="0">
                <a:latin typeface="Courier"/>
              </a:rPr>
              <a:t># Create a large list and array
</a:t>
            </a:r>
            <a:r>
              <a:rPr sz="1600" dirty="0" err="1">
                <a:latin typeface="Courier"/>
              </a:rPr>
              <a:t>large_list</a:t>
            </a:r>
            <a:r>
              <a:rPr sz="1600" dirty="0">
                <a:latin typeface="Courier"/>
              </a:rPr>
              <a:t> = list(range(1_000_000))
</a:t>
            </a:r>
            <a:r>
              <a:rPr sz="1600" dirty="0" err="1">
                <a:latin typeface="Courier"/>
              </a:rPr>
              <a:t>large_array</a:t>
            </a:r>
            <a:r>
              <a:rPr sz="1600" dirty="0">
                <a:latin typeface="Courier"/>
              </a:rPr>
              <a:t> = </a:t>
            </a:r>
            <a:r>
              <a:rPr sz="1600" dirty="0" err="1">
                <a:latin typeface="Courier"/>
              </a:rPr>
              <a:t>np.array</a:t>
            </a:r>
            <a:r>
              <a:rPr sz="1600" dirty="0">
                <a:latin typeface="Courier"/>
              </a:rPr>
              <a:t>(</a:t>
            </a:r>
            <a:r>
              <a:rPr sz="1600" dirty="0" err="1">
                <a:latin typeface="Courier"/>
              </a:rPr>
              <a:t>large_list</a:t>
            </a:r>
            <a:r>
              <a:rPr sz="1600" dirty="0">
                <a:latin typeface="Courier"/>
              </a:rPr>
              <a:t>)</a:t>
            </a:r>
          </a:p>
          <a:p>
            <a:pPr marL="0" lvl="0" indent="0">
              <a:buNone/>
            </a:pPr>
            <a:r>
              <a:rPr sz="1600" dirty="0"/>
              <a:t>And then track the time for the two operations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A2411F-F8C2-C9AB-4903-8E4B64C2215C}"/>
              </a:ext>
            </a:extLst>
          </p:cNvPr>
          <p:cNvSpPr txBox="1"/>
          <p:nvPr/>
        </p:nvSpPr>
        <p:spPr>
          <a:xfrm>
            <a:off x="6094228" y="2099408"/>
            <a:ext cx="609777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0">
              <a:buNone/>
            </a:pPr>
            <a:r>
              <a:rPr lang="en-GB" sz="1400" dirty="0">
                <a:latin typeface="Courier"/>
              </a:rPr>
              <a:t>import time
#  Track the time taken for the list multiplication
start = </a:t>
            </a:r>
            <a:r>
              <a:rPr lang="en-GB" sz="1400" dirty="0" err="1">
                <a:latin typeface="Courier"/>
              </a:rPr>
              <a:t>time.time</a:t>
            </a:r>
            <a:r>
              <a:rPr lang="en-GB" sz="1400" dirty="0">
                <a:latin typeface="Courier"/>
              </a:rPr>
              <a:t>()
</a:t>
            </a:r>
            <a:r>
              <a:rPr lang="en-GB" sz="1400" dirty="0" err="1">
                <a:latin typeface="Courier"/>
              </a:rPr>
              <a:t>list_result</a:t>
            </a:r>
            <a:r>
              <a:rPr lang="en-GB" sz="1400" dirty="0">
                <a:latin typeface="Courier"/>
              </a:rPr>
              <a:t> = [x * 2 for x in </a:t>
            </a:r>
            <a:r>
              <a:rPr lang="en-GB" sz="1400" dirty="0" err="1">
                <a:latin typeface="Courier"/>
              </a:rPr>
              <a:t>large_list</a:t>
            </a:r>
            <a:r>
              <a:rPr lang="en-GB" sz="1400" dirty="0">
                <a:latin typeface="Courier"/>
              </a:rPr>
              <a:t>]
end = </a:t>
            </a:r>
            <a:r>
              <a:rPr lang="en-GB" sz="1400" dirty="0" err="1">
                <a:latin typeface="Courier"/>
              </a:rPr>
              <a:t>time.time</a:t>
            </a:r>
            <a:r>
              <a:rPr lang="en-GB" sz="1400" dirty="0">
                <a:latin typeface="Courier"/>
              </a:rPr>
              <a:t>()
print(</a:t>
            </a:r>
            <a:r>
              <a:rPr lang="en-GB" sz="1400" dirty="0" err="1">
                <a:latin typeface="Courier"/>
              </a:rPr>
              <a:t>f"List</a:t>
            </a:r>
            <a:r>
              <a:rPr lang="en-GB" sz="1400" dirty="0">
                <a:latin typeface="Courier"/>
              </a:rPr>
              <a:t> comprehension time: {end - start:.5f} seconds")
# Time array multiplication
start = </a:t>
            </a:r>
            <a:r>
              <a:rPr lang="en-GB" sz="1400" dirty="0" err="1">
                <a:latin typeface="Courier"/>
              </a:rPr>
              <a:t>time.time</a:t>
            </a:r>
            <a:r>
              <a:rPr lang="en-GB" sz="1400" dirty="0">
                <a:latin typeface="Courier"/>
              </a:rPr>
              <a:t>()
</a:t>
            </a:r>
            <a:r>
              <a:rPr lang="en-GB" sz="1400" dirty="0" err="1">
                <a:latin typeface="Courier"/>
              </a:rPr>
              <a:t>array_result</a:t>
            </a:r>
            <a:r>
              <a:rPr lang="en-GB" sz="1400" dirty="0">
                <a:latin typeface="Courier"/>
              </a:rPr>
              <a:t> = </a:t>
            </a:r>
            <a:r>
              <a:rPr lang="en-GB" sz="1400" dirty="0" err="1">
                <a:latin typeface="Courier"/>
              </a:rPr>
              <a:t>large_array</a:t>
            </a:r>
            <a:r>
              <a:rPr lang="en-GB" sz="1400" dirty="0">
                <a:latin typeface="Courier"/>
              </a:rPr>
              <a:t> * 2
end = </a:t>
            </a:r>
            <a:r>
              <a:rPr lang="en-GB" sz="1400" dirty="0" err="1">
                <a:latin typeface="Courier"/>
              </a:rPr>
              <a:t>time.time</a:t>
            </a:r>
            <a:r>
              <a:rPr lang="en-GB" sz="1400" dirty="0">
                <a:latin typeface="Courier"/>
              </a:rPr>
              <a:t>()
print(</a:t>
            </a:r>
            <a:r>
              <a:rPr lang="en-GB" sz="1400" dirty="0" err="1">
                <a:latin typeface="Courier"/>
              </a:rPr>
              <a:t>f"NumPy</a:t>
            </a:r>
            <a:r>
              <a:rPr lang="en-GB" sz="1400" dirty="0">
                <a:latin typeface="Courier"/>
              </a:rPr>
              <a:t> array time: {end - start:.5f} seconds")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General mathematical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sz="1600" dirty="0"/>
              <a:t>The multiplication we performed earlier is done </a:t>
            </a:r>
            <a:r>
              <a:rPr sz="1600" b="1" dirty="0"/>
              <a:t>element-wise</a:t>
            </a:r>
            <a:r>
              <a:rPr sz="1600" dirty="0"/>
              <a:t>: every element is update according to </a:t>
            </a:r>
            <a:r>
              <a:rPr sz="1600" dirty="0" err="1"/>
              <a:t>teh</a:t>
            </a:r>
            <a:r>
              <a:rPr sz="1600" dirty="0"/>
              <a:t> same rule.</a:t>
            </a:r>
          </a:p>
          <a:p>
            <a:pPr marL="0" lvl="0" indent="0">
              <a:buNone/>
            </a:pPr>
            <a:r>
              <a:rPr sz="1600" dirty="0"/>
              <a:t>We can apply plenty of element-wise operations to the arrays.</a:t>
            </a:r>
          </a:p>
          <a:p>
            <a:pPr marL="0" lvl="0" indent="0">
              <a:buNone/>
            </a:pPr>
            <a:r>
              <a:rPr sz="1600" dirty="0"/>
              <a:t>Many of these are available as </a:t>
            </a:r>
            <a:r>
              <a:rPr sz="1600" dirty="0" err="1">
                <a:latin typeface="Courier"/>
              </a:rPr>
              <a:t>numpy</a:t>
            </a:r>
            <a:r>
              <a:rPr sz="1600" dirty="0"/>
              <a:t> functions directly accessed from the </a:t>
            </a:r>
            <a:r>
              <a:rPr sz="1600" dirty="0">
                <a:latin typeface="Courier"/>
              </a:rPr>
              <a:t>np.</a:t>
            </a:r>
            <a:r>
              <a:rPr sz="1600" dirty="0"/>
              <a:t> module</a:t>
            </a:r>
          </a:p>
          <a:p>
            <a:pPr lvl="0" indent="0">
              <a:buNone/>
            </a:pPr>
            <a:r>
              <a:rPr sz="1600" dirty="0">
                <a:latin typeface="Courier"/>
              </a:rPr>
              <a:t># Element-wise functions
print(</a:t>
            </a:r>
            <a:r>
              <a:rPr sz="1600" dirty="0" err="1">
                <a:latin typeface="Courier"/>
              </a:rPr>
              <a:t>f"Square</a:t>
            </a:r>
            <a:r>
              <a:rPr sz="1600" dirty="0">
                <a:latin typeface="Courier"/>
              </a:rPr>
              <a:t> root: {</a:t>
            </a:r>
            <a:r>
              <a:rPr sz="1600" dirty="0" err="1">
                <a:latin typeface="Courier"/>
              </a:rPr>
              <a:t>np.sqrt</a:t>
            </a:r>
            <a:r>
              <a:rPr sz="1600" dirty="0">
                <a:latin typeface="Courier"/>
              </a:rPr>
              <a:t>(arr1)}")
print(</a:t>
            </a:r>
            <a:r>
              <a:rPr sz="1600" dirty="0" err="1">
                <a:latin typeface="Courier"/>
              </a:rPr>
              <a:t>f"Mean</a:t>
            </a:r>
            <a:r>
              <a:rPr sz="1600" dirty="0">
                <a:latin typeface="Courier"/>
              </a:rPr>
              <a:t>: {</a:t>
            </a:r>
            <a:r>
              <a:rPr sz="1600" dirty="0" err="1">
                <a:latin typeface="Courier"/>
              </a:rPr>
              <a:t>np.mean</a:t>
            </a:r>
            <a:r>
              <a:rPr sz="1600" dirty="0">
                <a:latin typeface="Courier"/>
              </a:rPr>
              <a:t>(arr1)}")
print(</a:t>
            </a:r>
            <a:r>
              <a:rPr sz="1600" dirty="0" err="1">
                <a:latin typeface="Courier"/>
              </a:rPr>
              <a:t>f"Cosine</a:t>
            </a:r>
            <a:r>
              <a:rPr sz="1600" dirty="0">
                <a:latin typeface="Courier"/>
              </a:rPr>
              <a:t>: {</a:t>
            </a:r>
            <a:r>
              <a:rPr sz="1600" dirty="0" err="1">
                <a:latin typeface="Courier"/>
              </a:rPr>
              <a:t>np.cos</a:t>
            </a:r>
            <a:r>
              <a:rPr sz="1600" dirty="0">
                <a:latin typeface="Courier"/>
              </a:rPr>
              <a:t>(arr1)}")</a:t>
            </a:r>
          </a:p>
          <a:p>
            <a:pPr marL="0" lvl="0" indent="0">
              <a:buNone/>
            </a:pPr>
            <a:r>
              <a:rPr sz="1600" dirty="0"/>
              <a:t>The operations do not modify the original array, but produce </a:t>
            </a:r>
            <a:r>
              <a:rPr sz="1600" b="1" dirty="0"/>
              <a:t>new copies</a:t>
            </a:r>
          </a:p>
          <a:p>
            <a:pPr lvl="0" indent="0">
              <a:buNone/>
            </a:pPr>
            <a:r>
              <a:rPr sz="1600" dirty="0">
                <a:latin typeface="Courier"/>
              </a:rPr>
              <a:t>arr2 = arr1*3/2 + 5
print(</a:t>
            </a:r>
            <a:r>
              <a:rPr sz="1600" dirty="0" err="1">
                <a:latin typeface="Courier"/>
              </a:rPr>
              <a:t>f"Original</a:t>
            </a:r>
            <a:r>
              <a:rPr sz="1600" dirty="0">
                <a:latin typeface="Courier"/>
              </a:rPr>
              <a:t>: {arr1}")
print(</a:t>
            </a:r>
            <a:r>
              <a:rPr sz="1600" dirty="0" err="1">
                <a:latin typeface="Courier"/>
              </a:rPr>
              <a:t>f"Modified</a:t>
            </a:r>
            <a:r>
              <a:rPr sz="1600" dirty="0">
                <a:latin typeface="Courier"/>
              </a:rPr>
              <a:t>: {arr2}")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Other convenent </a:t>
            </a:r>
            <a:r>
              <a:rPr>
                <a:latin typeface="Courier"/>
              </a:rPr>
              <a:t>numpy</a:t>
            </a:r>
            <a:r>
              <a:t> functions allow you to accumulate values without loops.</a:t>
            </a:r>
          </a:p>
          <a:p>
            <a:pPr marL="0" lvl="0" indent="0">
              <a:buNone/>
            </a:pPr>
            <a:r>
              <a:t>Assume we have an array </a:t>
            </a:r>
            <a14:m xmlns:a14="http://schemas.microsoft.com/office/drawing/2010/main">
              <m:oMath xmlns:m="http://schemas.openxmlformats.org/officeDocument/2006/math">
                <m:r>
                  <a:rPr>
                    <a:latin typeface="Cambria Math" panose="02040503050406030204" pitchFamily="18" charset="0"/>
                  </a:rPr>
                  <m:t>𝑥</m:t>
                </m:r>
              </m:oMath>
            </a14:m>
            <a:endParaRPr/>
          </a:p>
          <a:p>
            <a:pPr lvl="0" indent="0">
              <a:buNone/>
            </a:pPr>
            <a:r>
              <a:rPr>
                <a:latin typeface="Courier"/>
              </a:rPr>
              <a:t>x = np.array([1,2,3,4,5,6,7,8])</a:t>
            </a:r>
          </a:p>
          <a:p>
            <a:pPr marL="0" lvl="0" indent="0">
              <a:buNone/>
            </a:pPr>
            <a:r>
              <a:rPr b="1"/>
              <a:t>Sums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a:rPr>
                      <a:latin typeface="Cambria Math" panose="02040503050406030204" pitchFamily="18" charset="0"/>
                    </a:rPr>
                    <m:t>𝑆</m:t>
                  </m:r>
                  <m:r>
                    <a:rPr>
                      <a:latin typeface="Cambria Math" panose="02040503050406030204" pitchFamily="18" charset="0"/>
                    </a:rPr>
                    <m:t>=</m:t>
                  </m:r>
                  <m:nary>
                    <m:naryPr>
                      <m:chr m:val="∑"/>
                      <m:limLoc m:val="undOvr"/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naryPr>
                    <m:sub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>
                          <a:latin typeface="Cambria Math" panose="02040503050406030204" pitchFamily="18" charset="0"/>
                        </a:rPr>
                        <m:t>=1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𝑛</m:t>
                      </m:r>
                    </m:sup>
                    <m:e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e>
                  </m:nary>
                </m:oMath>
              </m:oMathPara>
            </a14:m>
            <a:endParaRPr b="1"/>
          </a:p>
          <a:p>
            <a:pPr marL="0" lvl="0" indent="0">
              <a:buNone/>
            </a:pPr>
            <a:r>
              <a:t>In NumPy, this is translated as:</a:t>
            </a:r>
          </a:p>
          <a:p>
            <a:pPr lvl="0" indent="0">
              <a:buNone/>
            </a:pPr>
            <a:r>
              <a:rPr>
                <a:latin typeface="Courier"/>
              </a:rPr>
              <a:t>S = np.sum(x)
print(S)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Cumulative sums</a:t>
            </a:r>
          </a:p>
          <a:p>
            <a:pPr marL="0" lvl="0" indent="0">
              <a:buNone/>
            </a:pPr>
            <a:r>
              <a:t>A cumulative sum is a sequence where each element is the sum of all previous elements up to that position.</a:t>
            </a:r>
          </a:p>
          <a:p>
            <a:pPr marL="0" lvl="0" indent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>
                    <m:sSubPr>
                      <m:ctrlPr>
                        <a:rPr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</m:e>
                    <m:sub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</m:sub>
                  </m:sSub>
                  <m:r>
                    <a:rPr>
                      <a:latin typeface="Cambria Math" panose="02040503050406030204" pitchFamily="18" charset="0"/>
                    </a:rPr>
                    <m:t>=</m:t>
                  </m:r>
                  <m:nary>
                    <m:naryPr>
                      <m:chr m:val="∑"/>
                      <m:limLoc m:val="undOvr"/>
                      <m:ctrlPr>
                        <a:rPr i="1">
                          <a:latin typeface="Cambria Math" panose="02040503050406030204" pitchFamily="18" charset="0"/>
                        </a:rPr>
                      </m:ctrlPr>
                    </m:naryPr>
                    <m:sub>
                      <m:r>
                        <a:rPr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>
                          <a:latin typeface="Cambria Math" panose="02040503050406030204" pitchFamily="18" charset="0"/>
                        </a:rPr>
                        <m:t>=1</m:t>
                      </m:r>
                    </m:sub>
                    <m:sup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</m:sup>
                    <m:e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e>
                  </m:nary>
                </m:oMath>
              </m:oMathPara>
            </a14:m>
            <a:endParaRPr/>
          </a:p>
          <a:p>
            <a:pPr marL="0" lvl="0" indent="0">
              <a:buNone/>
            </a:pPr>
            <a:r>
              <a:t>In NumPy, this is translated as:</a:t>
            </a:r>
          </a:p>
          <a:p>
            <a:pPr lvl="0" indent="0">
              <a:buNone/>
            </a:pPr>
            <a:r>
              <a:rPr>
                <a:latin typeface="Courier"/>
              </a:rPr>
              <a:t> y = np.cumsum(x)
 print(y)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Example: molecular masses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sz="1800" dirty="0"/>
                  <a:t>Let’s consider the formula for the </a:t>
                </a:r>
                <a:r>
                  <a:rPr sz="1800" b="1" dirty="0"/>
                  <a:t>molecular mass</a:t>
                </a:r>
                <a:r>
                  <a:rPr sz="1800" dirty="0"/>
                  <a:t> of a compound: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180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sz="18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sz="180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18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sz="180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180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sz="18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80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sz="18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1800" dirty="0"/>
              </a:p>
              <a:p>
                <a:pPr marL="0" lvl="0" indent="0">
                  <a:buNone/>
                </a:pPr>
                <a:r>
                  <a:rPr sz="1800" dirty="0"/>
                  <a:t>where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sz="18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80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sz="18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800" dirty="0"/>
                  <a:t> is the number of atoms of element </a:t>
                </a:r>
                <a14:m>
                  <m:oMath xmlns:m="http://schemas.openxmlformats.org/officeDocument/2006/math">
                    <m:r>
                      <a:rPr sz="180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sz="1800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sz="18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180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sz="18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1800" dirty="0"/>
                  <a:t> is the atomic mass of element </a:t>
                </a:r>
                <a14:m>
                  <m:oMath xmlns:m="http://schemas.openxmlformats.org/officeDocument/2006/math">
                    <m:r>
                      <a:rPr sz="180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sz="1800" dirty="0"/>
              </a:p>
              <a:p>
                <a:pPr marL="0" lvl="0" indent="0">
                  <a:buNone/>
                </a:pPr>
                <a:r>
                  <a:rPr sz="1800" dirty="0"/>
                  <a:t>With </a:t>
                </a:r>
                <a:r>
                  <a:rPr sz="1800" dirty="0" err="1">
                    <a:latin typeface="Courier"/>
                  </a:rPr>
                  <a:t>numpy</a:t>
                </a:r>
                <a:r>
                  <a:rPr sz="1800" dirty="0"/>
                  <a:t>, you can compute this as:</a:t>
                </a:r>
              </a:p>
              <a:p>
                <a:pPr lvl="0" indent="0">
                  <a:buNone/>
                </a:pPr>
                <a:r>
                  <a:rPr sz="1800" dirty="0">
                    <a:latin typeface="Courier"/>
                  </a:rPr>
                  <a:t>a = </a:t>
                </a:r>
                <a:r>
                  <a:rPr sz="1800" dirty="0" err="1">
                    <a:latin typeface="Courier"/>
                  </a:rPr>
                  <a:t>np.array</a:t>
                </a:r>
                <a:r>
                  <a:rPr sz="1800" dirty="0">
                    <a:latin typeface="Courier"/>
                  </a:rPr>
                  <a:t>([2, 1, 4])      # Number of atoms for each element
m = </a:t>
                </a:r>
                <a:r>
                  <a:rPr sz="1800" dirty="0" err="1">
                    <a:latin typeface="Courier"/>
                  </a:rPr>
                  <a:t>np.array</a:t>
                </a:r>
                <a:r>
                  <a:rPr sz="1800" dirty="0">
                    <a:latin typeface="Courier"/>
                  </a:rPr>
                  <a:t>([12.01, 1.01, 16.00])  # Atomic masses (e.g., C, H, O)
M = </a:t>
                </a:r>
                <a:r>
                  <a:rPr sz="1800" dirty="0" err="1">
                    <a:latin typeface="Courier"/>
                  </a:rPr>
                  <a:t>np.sum</a:t>
                </a:r>
                <a:r>
                  <a:rPr sz="1800" dirty="0">
                    <a:latin typeface="Courier"/>
                  </a:rPr>
                  <a:t>(a * m)
print(</a:t>
                </a:r>
                <a:r>
                  <a:rPr sz="1800" dirty="0" err="1">
                    <a:latin typeface="Courier"/>
                  </a:rPr>
                  <a:t>f"Molecular</a:t>
                </a:r>
                <a:r>
                  <a:rPr sz="1800" dirty="0">
                    <a:latin typeface="Courier"/>
                  </a:rPr>
                  <a:t> mass: {M}")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87" t="-12893" b="-110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Operations between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sz="1600" dirty="0"/>
              <a:t>You can perform arithmetic operations directly between arrays of the same shape. Operations like addition, subtraction, multiplication, and division are applied </a:t>
            </a:r>
            <a:r>
              <a:rPr sz="1600" b="1" dirty="0"/>
              <a:t>element-wise</a:t>
            </a:r>
            <a:r>
              <a:rPr sz="1600" dirty="0"/>
              <a:t>.</a:t>
            </a:r>
          </a:p>
          <a:p>
            <a:pPr marL="0" lvl="0" indent="0">
              <a:buNone/>
            </a:pPr>
            <a:r>
              <a:rPr sz="1600" dirty="0"/>
              <a:t>For example:</a:t>
            </a:r>
          </a:p>
          <a:p>
            <a:pPr marL="0" lvl="0" indent="0">
              <a:buNone/>
            </a:pPr>
            <a:r>
              <a:rPr sz="1600" b="1" dirty="0"/>
              <a:t>Element-wise operations:</a:t>
            </a:r>
          </a:p>
          <a:p>
            <a:pPr lvl="0" indent="0">
              <a:buNone/>
            </a:pPr>
            <a:r>
              <a:rPr sz="1600" dirty="0">
                <a:latin typeface="Courier"/>
              </a:rPr>
              <a:t>added = arr1 + arr2
multiplied = arr1 * arr2
print(</a:t>
            </a:r>
            <a:r>
              <a:rPr sz="1600" dirty="0" err="1">
                <a:latin typeface="Courier"/>
              </a:rPr>
              <a:t>f"Added</a:t>
            </a:r>
            <a:r>
              <a:rPr sz="1600" dirty="0">
                <a:latin typeface="Courier"/>
              </a:rPr>
              <a:t>: {added}")
print(</a:t>
            </a:r>
            <a:r>
              <a:rPr sz="1600" dirty="0" err="1">
                <a:latin typeface="Courier"/>
              </a:rPr>
              <a:t>f"Multiplied</a:t>
            </a:r>
            <a:r>
              <a:rPr sz="1600" dirty="0">
                <a:latin typeface="Courier"/>
              </a:rPr>
              <a:t>: {multiplied}")</a:t>
            </a:r>
          </a:p>
          <a:p>
            <a:pPr marL="0" lvl="0" indent="0">
              <a:buNone/>
            </a:pPr>
            <a:r>
              <a:rPr sz="1600" b="1" dirty="0"/>
              <a:t>Note:</a:t>
            </a:r>
            <a:r>
              <a:rPr sz="1600" dirty="0"/>
              <a:t> Arrays must have compatible shapes!</a:t>
            </a:r>
          </a:p>
          <a:p>
            <a:pPr lvl="0" indent="0">
              <a:buNone/>
            </a:pPr>
            <a:r>
              <a:rPr sz="1600" dirty="0">
                <a:latin typeface="Courier"/>
              </a:rPr>
              <a:t>arr3 = </a:t>
            </a:r>
            <a:r>
              <a:rPr sz="1600" dirty="0" err="1">
                <a:latin typeface="Courier"/>
              </a:rPr>
              <a:t>np.array</a:t>
            </a:r>
            <a:r>
              <a:rPr sz="1600" dirty="0">
                <a:latin typeface="Courier"/>
              </a:rPr>
              <a:t>([1, 2, 3])
arr4 = </a:t>
            </a:r>
            <a:r>
              <a:rPr sz="1600" dirty="0" err="1">
                <a:latin typeface="Courier"/>
              </a:rPr>
              <a:t>np.array</a:t>
            </a:r>
            <a:r>
              <a:rPr sz="1600" dirty="0">
                <a:latin typeface="Courier"/>
              </a:rPr>
              <a:t>([4, 5])
# result = arr3 + arr4  # This would cause an error - incompatible shapes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Combining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With lists, the </a:t>
            </a:r>
            <a:r>
              <a:rPr>
                <a:latin typeface="Courier"/>
              </a:rPr>
              <a:t>+</a:t>
            </a:r>
            <a:r>
              <a:t> operator concatenated different lists. Since for arrays the sign </a:t>
            </a:r>
            <a:r>
              <a:rPr>
                <a:latin typeface="Courier"/>
              </a:rPr>
              <a:t>+</a:t>
            </a:r>
            <a:r>
              <a:t> corresponds to true mathematical addition, a dedicated concatenation function exists:</a:t>
            </a:r>
          </a:p>
          <a:p>
            <a:pPr lvl="0" indent="0">
              <a:buNone/>
            </a:pPr>
            <a:r>
              <a:rPr>
                <a:latin typeface="Courier"/>
              </a:rPr>
              <a:t>combined = np.concatenate([arr1, arr2])
print(f"Unique elements: {combined}")</a:t>
            </a:r>
          </a:p>
          <a:p>
            <a:pPr marL="0" lvl="0" indent="0">
              <a:buNone/>
            </a:pPr>
            <a:r>
              <a:t>Many other variations of concatenation exist. Consult the </a:t>
            </a:r>
            <a:r>
              <a:rPr>
                <a:hlinkClick r:id="rId2"/>
              </a:rPr>
              <a:t>documentation</a:t>
            </a:r>
            <a: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NumPy arrays</a:t>
            </a:r>
            <a:r>
              <a:t> are optimized for numerical operations</a:t>
            </a:r>
          </a:p>
          <a:p>
            <a:pPr lvl="0"/>
            <a:r>
              <a:rPr b="1"/>
              <a:t>Element-wise operations</a:t>
            </a:r>
            <a:r>
              <a:t> work implicitly</a:t>
            </a:r>
          </a:p>
          <a:p>
            <a:pPr lvl="0"/>
            <a:r>
              <a:rPr b="1"/>
              <a:t>Performance benefits</a:t>
            </a:r>
            <a:r>
              <a:t> for large datasets</a:t>
            </a:r>
          </a:p>
          <a:p>
            <a:pPr lvl="0"/>
            <a:r>
              <a:rPr b="1"/>
              <a:t>Mathematical functions</a:t>
            </a:r>
            <a:r>
              <a:t> apply to entire arrays</a:t>
            </a:r>
          </a:p>
          <a:p>
            <a:pPr lvl="0"/>
            <a:r>
              <a:rPr b="1"/>
              <a:t>Shape compatibility</a:t>
            </a:r>
            <a:r>
              <a:t> required for operations</a:t>
            </a:r>
          </a:p>
          <a:p>
            <a:pPr lvl="0"/>
            <a:r>
              <a:t>Choose the </a:t>
            </a:r>
            <a:r>
              <a:rPr b="1"/>
              <a:t>right tool</a:t>
            </a:r>
            <a:r>
              <a:t> for your task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Slide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1397</Words>
  <Application>Microsoft Macintosh PowerPoint</Application>
  <PresentationFormat>Widescreen</PresentationFormat>
  <Paragraphs>114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Cambria Math</vt:lpstr>
      <vt:lpstr>Calibri</vt:lpstr>
      <vt:lpstr>Courier</vt:lpstr>
      <vt:lpstr>Arial</vt:lpstr>
      <vt:lpstr>Title Slide</vt:lpstr>
      <vt:lpstr>The numpy module</vt:lpstr>
      <vt:lpstr>Aims</vt:lpstr>
      <vt:lpstr>What is numpy?</vt:lpstr>
      <vt:lpstr>Arrays vs lists</vt:lpstr>
      <vt:lpstr>Arrays from lists</vt:lpstr>
      <vt:lpstr>Array properties</vt:lpstr>
      <vt:lpstr>Accessing array elements</vt:lpstr>
      <vt:lpstr>Element-wise Operations</vt:lpstr>
      <vt:lpstr>Element-wise Operations</vt:lpstr>
      <vt:lpstr>Performance advantage</vt:lpstr>
      <vt:lpstr>General mathematical functions</vt:lpstr>
      <vt:lpstr>Sums</vt:lpstr>
      <vt:lpstr>Sums</vt:lpstr>
      <vt:lpstr>Example: molecular masses</vt:lpstr>
      <vt:lpstr>Operations between arrays</vt:lpstr>
      <vt:lpstr>Combining arrays</vt:lpstr>
      <vt:lpstr>Key Takeaways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19201</TotalTime>
  <Words>9536</Words>
  <Application>Microsoft Macintosh PowerPoint</Application>
  <PresentationFormat>Widescreen</PresentationFormat>
  <Paragraphs>1540</Paragraphs>
  <Slides>198</Slides>
  <Notes>198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198</vt:i4>
      </vt:variant>
    </vt:vector>
  </HeadingPairs>
  <TitlesOfParts>
    <vt:vector size="202" baseType="lpstr">
      <vt:lpstr>Calibri</vt:lpstr>
      <vt:lpstr>Aptos Mono</vt:lpstr>
      <vt:lpstr>Arial</vt:lpstr>
      <vt:lpstr>Title Slide</vt:lpstr>
      <vt:lpstr>Lecture 5:   Consolidation</vt:lpstr>
      <vt:lpstr>Today’s Lecture</vt:lpstr>
      <vt:lpstr>Today’s Lecture</vt:lpstr>
      <vt:lpstr>Today’s Lecture</vt:lpstr>
      <vt:lpstr>Today’s Lecture</vt:lpstr>
      <vt:lpstr>Today’s Lecture</vt:lpstr>
      <vt:lpstr>Today’s Lecture</vt:lpstr>
      <vt:lpstr>Today’s Lecture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A Worked Example</vt:lpstr>
      <vt:lpstr>A Worked Example</vt:lpstr>
      <vt:lpstr>A Worked Example</vt:lpstr>
      <vt:lpstr>A Worked Example</vt:lpstr>
      <vt:lpstr>A Worked Example</vt:lpstr>
      <vt:lpstr>A Worked Example</vt:lpstr>
      <vt:lpstr>A Worked Example</vt:lpstr>
      <vt:lpstr>A Worked Example</vt:lpstr>
      <vt:lpstr>A Worked Example</vt:lpstr>
      <vt:lpstr>A Worked Example</vt:lpstr>
      <vt:lpstr>A Worked Example</vt:lpstr>
      <vt:lpstr>A Worked Example</vt:lpstr>
      <vt:lpstr>A Worked Example</vt:lpstr>
      <vt:lpstr>A Worked Example</vt:lpstr>
      <vt:lpstr>A Worked Example</vt:lpstr>
      <vt:lpstr>A Worked Example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numpy module</dc:title>
  <dc:creator/>
  <cp:keywords/>
  <cp:lastModifiedBy>Francesco Turci</cp:lastModifiedBy>
  <cp:revision>1</cp:revision>
  <dcterms:created xsi:type="dcterms:W3CDTF">2025-10-31T11:16:39Z</dcterms:created>
  <dcterms:modified xsi:type="dcterms:W3CDTF">2025-10-31T11:20:38Z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xecute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